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3" name="Shape 1"/>
          <p:cNvSpPr/>
          <p:nvPr/>
        </p:nvSpPr>
        <p:spPr>
          <a:xfrm>
            <a:off x="347472" y="411480"/>
            <a:ext cx="2926080" cy="347472"/>
          </a:xfrm>
          <a:prstGeom prst="rect">
            <a:avLst/>
          </a:prstGeom>
          <a:solidFill>
            <a:srgbClr val="0096B7"/>
          </a:solidFill>
          <a:ln w="12700">
            <a:solidFill>
              <a:srgbClr val="0096B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47472" y="411480"/>
            <a:ext cx="29260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CSE – CYBER SECURITY  |  VNRVJIET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47472" y="105156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Expense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47472" y="1874520"/>
            <a:ext cx="84124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Forecaster</a:t>
            </a:r>
            <a:endParaRPr lang="en-US" sz="5400" dirty="0"/>
          </a:p>
        </p:txBody>
      </p:sp>
      <p:sp>
        <p:nvSpPr>
          <p:cNvPr id="7" name="Text 5"/>
          <p:cNvSpPr/>
          <p:nvPr/>
        </p:nvSpPr>
        <p:spPr>
          <a:xfrm>
            <a:off x="347472" y="2834640"/>
            <a:ext cx="7772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0E0EF"/>
                </a:solidFill>
              </a:rPr>
              <a:t>A Full-Stack Python Analytics &amp; Web Dashboard Project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47472" y="3337560"/>
            <a:ext cx="841248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47472" y="35204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C. RITHVIK  </a:t>
            </a:r>
            <a:pPr indent="0" marL="0">
              <a:buNone/>
            </a:pPr>
            <a:r>
              <a:rPr lang="en-US" sz="1200" dirty="0">
                <a:solidFill>
                  <a:srgbClr val="8BA0B5"/>
                </a:solidFill>
              </a:rPr>
              <a:t>25071A6283  |  </a:t>
            </a:r>
            <a:pPr indent="0" marL="0">
              <a:buNone/>
            </a:pPr>
            <a:r>
              <a:rPr lang="en-US" sz="1200" dirty="0">
                <a:solidFill>
                  <a:srgbClr val="8BA0B5"/>
                </a:solidFill>
              </a:rPr>
              <a:t>Guide: Ms Dhanshree Mukund Pande  |  </a:t>
            </a:r>
            <a:pPr indent="0" marL="0">
              <a:buNone/>
            </a:pPr>
            <a:r>
              <a:rPr lang="en-US" sz="1200" dirty="0">
                <a:solidFill>
                  <a:srgbClr val="8BA0B5"/>
                </a:solidFill>
              </a:rPr>
              <a:t>May 2026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132320" y="274320"/>
            <a:ext cx="2286000" cy="2286000"/>
          </a:xfrm>
          <a:prstGeom prst="ellipse">
            <a:avLst/>
          </a:prstGeom>
          <a:solidFill>
            <a:srgbClr val="00B4D8">
              <a:alpha val="15000"/>
            </a:srgbClr>
          </a:solidFill>
          <a:ln w="12700">
            <a:solidFill>
              <a:srgbClr val="00B4D8">
                <a:alpha val="3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772400" y="2560320"/>
            <a:ext cx="1280160" cy="1280160"/>
          </a:xfrm>
          <a:prstGeom prst="ellipse">
            <a:avLst/>
          </a:prstGeom>
          <a:solidFill>
            <a:srgbClr val="90E0EF">
              <a:alpha val="12000"/>
            </a:srgbClr>
          </a:solidFill>
          <a:ln w="12700">
            <a:solidFill>
              <a:srgbClr val="90E0EF">
                <a:alpha val="25000"/>
              </a:srgbClr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OBJECTIVES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0B5"/>
                </a:solidFill>
              </a:rPr>
              <a:t>02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20040" y="960120"/>
            <a:ext cx="3977640" cy="3474720"/>
          </a:xfrm>
          <a:prstGeom prst="rect">
            <a:avLst/>
          </a:prstGeom>
          <a:solidFill>
            <a:srgbClr val="0B1F3A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20040" y="960120"/>
            <a:ext cx="3977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THE PROBLEM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02920" y="1435608"/>
            <a:ext cx="3611880" cy="0"/>
          </a:xfrm>
          <a:prstGeom prst="line">
            <a:avLst/>
          </a:prstGeom>
          <a:noFill/>
          <a:ln w="9525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1581912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822960" y="15361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Bank statements are raw, unstructured CSV/text files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2920" y="2267712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22219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Simply knowing totals is not enough — patterns matter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02920" y="2953512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29077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No lightweight tool for analysing volatility in spending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02920" y="3639312"/>
            <a:ext cx="201168" cy="201168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822960" y="3593592"/>
            <a:ext cx="3291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</a:rPr>
              <a:t>Complex frameworks (Django, React) are overkill for this scope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4251960" cy="3474720"/>
          </a:xfrm>
          <a:prstGeom prst="rect">
            <a:avLst/>
          </a:prstGeom>
          <a:solidFill>
            <a:srgbClr val="FFFFFF"/>
          </a:solidFill>
          <a:ln w="19050">
            <a:solidFill>
              <a:srgbClr val="0096B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572000" y="960120"/>
            <a:ext cx="4251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PROJECT OBJECTIVES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54880" y="1435608"/>
            <a:ext cx="3886200" cy="0"/>
          </a:xfrm>
          <a:prstGeom prst="line">
            <a:avLst/>
          </a:prstGeom>
          <a:noFill/>
          <a:ln w="9525">
            <a:solidFill>
              <a:srgbClr val="0096B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754880" y="1581912"/>
            <a:ext cx="310896" cy="310896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20" name="Text 18"/>
          <p:cNvSpPr/>
          <p:nvPr/>
        </p:nvSpPr>
        <p:spPr>
          <a:xfrm>
            <a:off x="4754880" y="15819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01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166360" y="1554480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849"/>
                </a:solidFill>
              </a:rPr>
              <a:t>Parse bank statements with memory-safe Python generators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4754880" y="2295144"/>
            <a:ext cx="310896" cy="310896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229514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02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66360" y="2267712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849"/>
                </a:solidFill>
              </a:rPr>
              <a:t>NumPy for sums, means &amp; standard deviations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754880" y="3008376"/>
            <a:ext cx="310896" cy="310896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300837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03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166360" y="2980944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849"/>
                </a:solidFill>
              </a:rPr>
              <a:t>Custom HTTP server exposing a REST API</a:t>
            </a:r>
            <a:endParaRPr lang="en-US" sz="1150" dirty="0"/>
          </a:p>
        </p:txBody>
      </p:sp>
      <p:sp>
        <p:nvSpPr>
          <p:cNvPr id="28" name="Shape 26"/>
          <p:cNvSpPr/>
          <p:nvPr/>
        </p:nvSpPr>
        <p:spPr>
          <a:xfrm>
            <a:off x="4754880" y="3721608"/>
            <a:ext cx="310896" cy="310896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29" name="Text 27"/>
          <p:cNvSpPr/>
          <p:nvPr/>
        </p:nvSpPr>
        <p:spPr>
          <a:xfrm>
            <a:off x="4754880" y="37216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04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5166360" y="3694176"/>
            <a:ext cx="347472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22849"/>
                </a:solidFill>
              </a:rPr>
              <a:t>Vanilla HTML/CSS/JS dashboard for live visualization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84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0B5"/>
                </a:solidFill>
              </a:rPr>
              <a:t>03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51560"/>
            <a:ext cx="2743200" cy="3383280"/>
          </a:xfrm>
          <a:prstGeom prst="rect">
            <a:avLst/>
          </a:prstGeom>
          <a:solidFill>
            <a:srgbClr val="122849"/>
          </a:solidFill>
          <a:ln w="25400">
            <a:solidFill>
              <a:srgbClr val="00B4D8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51560"/>
            <a:ext cx="2743200" cy="45720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6276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0B4D8"/>
                </a:solidFill>
              </a:rPr>
              <a:t>HTML · CSS · JavaScript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11480" y="2084832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EE"/>
                </a:solidFill>
              </a:rPr>
              <a:t>fetch() · DOM Manipulation · Charts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246120" y="1051560"/>
            <a:ext cx="2743200" cy="3383280"/>
          </a:xfrm>
          <a:prstGeom prst="rect">
            <a:avLst/>
          </a:prstGeom>
          <a:solidFill>
            <a:srgbClr val="122849"/>
          </a:solidFill>
          <a:ln w="25400">
            <a:solidFill>
              <a:srgbClr val="FF6B35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46120" y="1051560"/>
            <a:ext cx="274320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2" name="Text 10"/>
          <p:cNvSpPr/>
          <p:nvPr/>
        </p:nvSpPr>
        <p:spPr>
          <a:xfrm>
            <a:off x="324612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REST API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383280" y="16276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</a:rPr>
              <a:t>http.server · Python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383280" y="2084832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EE"/>
                </a:solidFill>
              </a:rPr>
              <a:t>GET /api/analyze  ·  POST /api/transactions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217920" y="1051560"/>
            <a:ext cx="2743200" cy="3383280"/>
          </a:xfrm>
          <a:prstGeom prst="rect">
            <a:avLst/>
          </a:prstGeom>
          <a:solidFill>
            <a:srgbClr val="122849"/>
          </a:solidFill>
          <a:ln w="25400">
            <a:solidFill>
              <a:srgbClr val="7B2FBE"/>
            </a:solidFill>
            <a:prstDash val="solid"/>
          </a:ln>
          <a:effectLst>
            <a:outerShdw sx="100000" sy="100000" kx="0" ky="0" algn="bl" rotWithShape="0" blurRad="127000" dist="50800" dir="8100000">
              <a:srgbClr val="000000">
                <a:alpha val="3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217920" y="1051560"/>
            <a:ext cx="2743200" cy="457200"/>
          </a:xfrm>
          <a:prstGeom prst="rect">
            <a:avLst/>
          </a:prstGeom>
          <a:solidFill>
            <a:srgbClr val="7B2FBE"/>
          </a:solidFill>
          <a:ln/>
        </p:spPr>
      </p:sp>
      <p:sp>
        <p:nvSpPr>
          <p:cNvPr id="17" name="Text 15"/>
          <p:cNvSpPr/>
          <p:nvPr/>
        </p:nvSpPr>
        <p:spPr>
          <a:xfrm>
            <a:off x="6217920" y="105156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BACKEND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355080" y="1627632"/>
            <a:ext cx="24688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7B2FBE"/>
                </a:solidFill>
              </a:rPr>
              <a:t>expense_analyzer.py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55080" y="2084832"/>
            <a:ext cx="2468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50" dirty="0">
                <a:solidFill>
                  <a:srgbClr val="D6E4EE"/>
                </a:solidFill>
              </a:rPr>
              <a:t>Generators · OOP · NumPy · Statistics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3017520" y="2788920"/>
            <a:ext cx="228600" cy="0"/>
          </a:xfrm>
          <a:prstGeom prst="line">
            <a:avLst/>
          </a:prstGeom>
          <a:noFill/>
          <a:ln w="25400">
            <a:solidFill>
              <a:srgbClr val="8BA0B5"/>
            </a:solidFill>
            <a:prstDash val="dash"/>
            <a:tailEnd type="arrow"/>
          </a:ln>
        </p:spPr>
      </p:sp>
      <p:sp>
        <p:nvSpPr>
          <p:cNvPr id="21" name="Shape 19"/>
          <p:cNvSpPr/>
          <p:nvPr/>
        </p:nvSpPr>
        <p:spPr>
          <a:xfrm>
            <a:off x="5989320" y="2788920"/>
            <a:ext cx="228600" cy="0"/>
          </a:xfrm>
          <a:prstGeom prst="line">
            <a:avLst/>
          </a:prstGeom>
          <a:noFill/>
          <a:ln w="25400">
            <a:solidFill>
              <a:srgbClr val="8BA0B5"/>
            </a:solidFill>
            <a:prstDash val="dash"/>
            <a:tailEnd type="arrow"/>
          </a:ln>
        </p:spPr>
      </p:sp>
      <p:sp>
        <p:nvSpPr>
          <p:cNvPr id="22" name="Text 20"/>
          <p:cNvSpPr/>
          <p:nvPr/>
        </p:nvSpPr>
        <p:spPr>
          <a:xfrm>
            <a:off x="27432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00B4D8"/>
                </a:solidFill>
              </a:rPr>
              <a:t>Client Layer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324612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FF6B35"/>
                </a:solidFill>
              </a:rPr>
              <a:t>Network Layer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217920" y="457200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B57BEE"/>
                </a:solidFill>
              </a:rPr>
              <a:t>Processing Layer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4 PILLARS OF ADVANCED PYTHON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0B5"/>
                </a:solidFill>
              </a:rPr>
              <a:t>04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2062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00B4D8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84048" y="1133856"/>
            <a:ext cx="457200" cy="45720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384048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950976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Memory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950976" y="142646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00B4D8"/>
                </a:solidFill>
              </a:rPr>
              <a:t>Generators  |  yield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11480" y="175564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read_transactions() uses yield to create an iterator — values calculated on-the-fly, never all at once. Prevents Memory Overflow vulnerabilities. Cyber Security best practice.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54880" y="1005840"/>
            <a:ext cx="42062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FF6B35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864608" y="1133856"/>
            <a:ext cx="457200" cy="45720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4864608" y="113385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431536" y="10972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Object-Oriented Programming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431536" y="1426464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6B35"/>
                </a:solidFill>
              </a:rPr>
              <a:t>Transaction Class  |  @property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892040" y="1755648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Every transaction becomes a Transaction object. @property decorators (e.g. month_name) add metadata without touching raw input. Encapsulates data + logic together.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2999232"/>
            <a:ext cx="42062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7B2FBE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4048" y="3127248"/>
            <a:ext cx="457200" cy="457200"/>
          </a:xfrm>
          <a:prstGeom prst="ellipse">
            <a:avLst/>
          </a:prstGeom>
          <a:solidFill>
            <a:srgbClr val="7B2FBE"/>
          </a:solidFill>
          <a:ln/>
        </p:spPr>
      </p:sp>
      <p:sp>
        <p:nvSpPr>
          <p:cNvPr id="19" name="Text 17"/>
          <p:cNvSpPr/>
          <p:nvPr/>
        </p:nvSpPr>
        <p:spPr>
          <a:xfrm>
            <a:off x="384048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0976" y="30906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Vectorized Computation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950976" y="341985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7B2FBE"/>
                </a:solidFill>
              </a:rPr>
              <a:t>NumPy  |  SIMD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411480" y="37490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NumPy arrays are statically-typed in C. np.std(amounts) hands the entire array to a C-compiled library — single CPU operation (SIMD). 50–100× faster than a manual for-loop.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54880" y="2999232"/>
            <a:ext cx="4206240" cy="1828800"/>
          </a:xfrm>
          <a:prstGeom prst="rect">
            <a:avLst/>
          </a:prstGeom>
          <a:solidFill>
            <a:srgbClr val="FFFFFF"/>
          </a:solidFill>
          <a:ln w="19050">
            <a:solidFill>
              <a:srgbClr val="2DC653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864608" y="3127248"/>
            <a:ext cx="457200" cy="457200"/>
          </a:xfrm>
          <a:prstGeom prst="ellipse">
            <a:avLst/>
          </a:prstGeom>
          <a:solidFill>
            <a:srgbClr val="2DC653"/>
          </a:solidFill>
          <a:ln/>
        </p:spPr>
      </p:sp>
      <p:sp>
        <p:nvSpPr>
          <p:cNvPr id="25" name="Text 23"/>
          <p:cNvSpPr/>
          <p:nvPr/>
        </p:nvSpPr>
        <p:spPr>
          <a:xfrm>
            <a:off x="4864608" y="3127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5431536" y="3090672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F3A"/>
                </a:solidFill>
              </a:rPr>
              <a:t>Networking (HTTP Layer)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431536" y="3419856"/>
            <a:ext cx="3383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2DC653"/>
                </a:solidFill>
              </a:rPr>
              <a:t>http.server  |  Socket Level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892040" y="3749040"/>
            <a:ext cx="393192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374151"/>
                </a:solidFill>
              </a:rPr>
              <a:t>No Flask/FastAPI. Extended SimpleHTTPRequestHandler directly — manual header parsing, bytes-to-string encoding. Provides deep understanding of HTTP protocol at socket level.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6111E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CASES &amp; OUTPUTS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0B5"/>
                </a:solidFill>
              </a:rPr>
              <a:t>05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8595360" cy="868680"/>
          </a:xfrm>
          <a:prstGeom prst="rect">
            <a:avLst/>
          </a:prstGeom>
          <a:solidFill>
            <a:srgbClr val="122849"/>
          </a:solidFill>
          <a:ln w="9525">
            <a:solidFill>
              <a:srgbClr val="0096B7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960120"/>
            <a:ext cx="640080" cy="868680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7" name="Text 5"/>
          <p:cNvSpPr/>
          <p:nvPr/>
        </p:nvSpPr>
        <p:spPr>
          <a:xfrm>
            <a:off x="274320" y="960120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TC-1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024128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Valid Data Ingestion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24128" y="1344168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 2024-01-05,Rent,1200.00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1024128" y="1554480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EE"/>
                </a:solidFill>
              </a:rPr>
              <a:t>→ Parsed into Transaction object; appended to 'Rent' category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8092440" y="1216152"/>
            <a:ext cx="685800" cy="347472"/>
          </a:xfrm>
          <a:prstGeom prst="roundRect">
            <a:avLst>
              <a:gd name="adj" fmla="val 13158"/>
            </a:avLst>
          </a:prstGeom>
          <a:solidFill>
            <a:srgbClr val="2DC653"/>
          </a:solidFill>
          <a:ln/>
        </p:spPr>
      </p:sp>
      <p:sp>
        <p:nvSpPr>
          <p:cNvPr id="12" name="Text 10"/>
          <p:cNvSpPr/>
          <p:nvPr/>
        </p:nvSpPr>
        <p:spPr>
          <a:xfrm>
            <a:off x="8092440" y="1216152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74320" y="1947672"/>
            <a:ext cx="8595360" cy="868680"/>
          </a:xfrm>
          <a:prstGeom prst="rect">
            <a:avLst/>
          </a:prstGeom>
          <a:solidFill>
            <a:srgbClr val="122849"/>
          </a:solidFill>
          <a:ln w="9525">
            <a:solidFill>
              <a:srgbClr val="0096B7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1947672"/>
            <a:ext cx="640080" cy="868680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1947672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TC-2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024128" y="19933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Malformed Line Handling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24128" y="2331720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 INVALID_LINE_TO_TEST_ERROR_HANDLING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024128" y="2542032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EE"/>
                </a:solidFill>
              </a:rPr>
              <a:t>→ ValueError caught; line skipped; server continued without crash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092440" y="2203704"/>
            <a:ext cx="685800" cy="347472"/>
          </a:xfrm>
          <a:prstGeom prst="roundRect">
            <a:avLst>
              <a:gd name="adj" fmla="val 13158"/>
            </a:avLst>
          </a:prstGeom>
          <a:solidFill>
            <a:srgbClr val="2DC653"/>
          </a:solidFill>
          <a:ln/>
        </p:spPr>
      </p:sp>
      <p:sp>
        <p:nvSpPr>
          <p:cNvPr id="20" name="Text 18"/>
          <p:cNvSpPr/>
          <p:nvPr/>
        </p:nvSpPr>
        <p:spPr>
          <a:xfrm>
            <a:off x="8092440" y="2203704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274320" y="2935224"/>
            <a:ext cx="8595360" cy="868680"/>
          </a:xfrm>
          <a:prstGeom prst="rect">
            <a:avLst/>
          </a:prstGeom>
          <a:solidFill>
            <a:srgbClr val="122849"/>
          </a:solidFill>
          <a:ln w="9525">
            <a:solidFill>
              <a:srgbClr val="0096B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74320" y="2935224"/>
            <a:ext cx="640080" cy="868680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23" name="Text 21"/>
          <p:cNvSpPr/>
          <p:nvPr/>
        </p:nvSpPr>
        <p:spPr>
          <a:xfrm>
            <a:off x="274320" y="2935224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TC-3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024128" y="298094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Volatility Alert Generation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1024128" y="3319272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 Entertainment: $55.00, $80.00 (high variance)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1024128" y="3529584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EE"/>
                </a:solidFill>
              </a:rPr>
              <a:t>→ std &gt; 50% of mean → volatile: 1.0 flag; red card rendered in UI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8092440" y="3191256"/>
            <a:ext cx="685800" cy="347472"/>
          </a:xfrm>
          <a:prstGeom prst="roundRect">
            <a:avLst>
              <a:gd name="adj" fmla="val 13158"/>
            </a:avLst>
          </a:prstGeom>
          <a:solidFill>
            <a:srgbClr val="2DC653"/>
          </a:solidFill>
          <a:ln/>
        </p:spPr>
      </p:sp>
      <p:sp>
        <p:nvSpPr>
          <p:cNvPr id="28" name="Text 26"/>
          <p:cNvSpPr/>
          <p:nvPr/>
        </p:nvSpPr>
        <p:spPr>
          <a:xfrm>
            <a:off x="8092440" y="3191256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274320" y="3922776"/>
            <a:ext cx="8595360" cy="868680"/>
          </a:xfrm>
          <a:prstGeom prst="rect">
            <a:avLst/>
          </a:prstGeom>
          <a:solidFill>
            <a:srgbClr val="122849"/>
          </a:solidFill>
          <a:ln w="9525">
            <a:solidFill>
              <a:srgbClr val="0096B7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74320" y="3922776"/>
            <a:ext cx="640080" cy="868680"/>
          </a:xfrm>
          <a:prstGeom prst="rect">
            <a:avLst/>
          </a:prstGeom>
          <a:solidFill>
            <a:srgbClr val="0096B7"/>
          </a:solidFill>
          <a:ln/>
        </p:spPr>
      </p:sp>
      <p:sp>
        <p:nvSpPr>
          <p:cNvPr id="31" name="Text 29"/>
          <p:cNvSpPr/>
          <p:nvPr/>
        </p:nvSpPr>
        <p:spPr>
          <a:xfrm>
            <a:off x="274320" y="3922776"/>
            <a:ext cx="6400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TC-4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024128" y="396849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API POST Execution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024128" y="4306824"/>
            <a:ext cx="47548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0E0E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IN: JSON payload from frontend form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24128" y="4517136"/>
            <a:ext cx="67665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D6E4EE"/>
                </a:solidFill>
              </a:rPr>
              <a:t>→ bank_statement.txt updated; HTTP 201 Created returned; dashboard refreshed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8092440" y="4178808"/>
            <a:ext cx="685800" cy="347472"/>
          </a:xfrm>
          <a:prstGeom prst="roundRect">
            <a:avLst>
              <a:gd name="adj" fmla="val 13158"/>
            </a:avLst>
          </a:prstGeom>
          <a:solidFill>
            <a:srgbClr val="2DC653"/>
          </a:solidFill>
          <a:ln/>
        </p:spPr>
      </p:sp>
      <p:sp>
        <p:nvSpPr>
          <p:cNvPr id="36" name="Text 34"/>
          <p:cNvSpPr/>
          <p:nvPr/>
        </p:nvSpPr>
        <p:spPr>
          <a:xfrm>
            <a:off x="8092440" y="4178808"/>
            <a:ext cx="685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</a:rPr>
              <a:t>PASS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8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RESULTS, ANALYSIS &amp; VALIDATION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0B5"/>
                </a:solidFill>
              </a:rPr>
              <a:t>06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9601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49"/>
                </a:solidFill>
              </a:rPr>
              <a:t>Statistics Successfully Computed For All Categories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20040" y="1389888"/>
          <a:ext cx="5303520" cy="3200400"/>
        </p:xfrm>
        <a:graphic>
          <a:graphicData uri="http://schemas.openxmlformats.org/drawingml/2006/table">
            <a:tbl>
              <a:tblPr/>
              <a:tblGrid>
                <a:gridCol w="1371600"/>
                <a:gridCol w="786384"/>
                <a:gridCol w="786384"/>
                <a:gridCol w="786384"/>
                <a:gridCol w="786384"/>
                <a:gridCol w="786384"/>
              </a:tblGrid>
              <a:tr h="40005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Category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Total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Mean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Std Dev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Max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B1F3A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</a:rPr>
                        <a:t>Groceries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</a:rPr>
                        <a:t>Rent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</a:rPr>
                        <a:t>Dining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</a:rPr>
                        <a:t>Transport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</a:rPr>
                        <a:t>Entertainment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</a:rPr>
                        <a:t>Utilities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E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6E4EE"/>
                    </a:solidFill>
                  </a:tcPr>
                </a:tc>
              </a:tr>
              <a:tr h="4000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0B1F3A"/>
                          </a:solidFill>
                        </a:rPr>
                        <a:t>BITCOIN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96B7"/>
                          </a:solidFill>
                        </a:rPr>
                        <a:t>✓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6E4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897880" y="1389888"/>
            <a:ext cx="2926080" cy="3200400"/>
          </a:xfrm>
          <a:prstGeom prst="rect">
            <a:avLst/>
          </a:prstGeom>
          <a:solidFill>
            <a:srgbClr val="0B1F3A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897880" y="1389888"/>
            <a:ext cx="2926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190195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0" name="Text 7"/>
          <p:cNvSpPr/>
          <p:nvPr/>
        </p:nvSpPr>
        <p:spPr>
          <a:xfrm>
            <a:off x="6291072" y="186537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All valid inputs parsed without error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6035040" y="2322576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2" name="Text 9"/>
          <p:cNvSpPr/>
          <p:nvPr/>
        </p:nvSpPr>
        <p:spPr>
          <a:xfrm>
            <a:off x="6291072" y="2286000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Volatility heuristic: std &gt; 50% of mean flags erratic spending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035040" y="2743200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4" name="Text 11"/>
          <p:cNvSpPr/>
          <p:nvPr/>
        </p:nvSpPr>
        <p:spPr>
          <a:xfrm>
            <a:off x="6291072" y="2706624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NumPy C-compiled ops ~50–100× faster than Python loops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6035040" y="3163824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6" name="Text 13"/>
          <p:cNvSpPr/>
          <p:nvPr/>
        </p:nvSpPr>
        <p:spPr>
          <a:xfrm>
            <a:off x="6291072" y="3127248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INVALID_LINE test validated robust exception handling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6035040" y="3584448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8" name="Text 15"/>
          <p:cNvSpPr/>
          <p:nvPr/>
        </p:nvSpPr>
        <p:spPr>
          <a:xfrm>
            <a:off x="6291072" y="3547872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Frontend dynamically generated HTML tables from JSON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6035040" y="4005072"/>
            <a:ext cx="164592" cy="164592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20" name="Text 17"/>
          <p:cNvSpPr/>
          <p:nvPr/>
        </p:nvSpPr>
        <p:spPr>
          <a:xfrm>
            <a:off x="6291072" y="3968496"/>
            <a:ext cx="23774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REST API fully decoupled backend from UI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611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22960"/>
          </a:xfrm>
          <a:prstGeom prst="rect">
            <a:avLst/>
          </a:prstGeom>
          <a:solidFill>
            <a:srgbClr val="122849"/>
          </a:solidFill>
          <a:ln/>
        </p:spPr>
      </p:sp>
      <p:sp>
        <p:nvSpPr>
          <p:cNvPr id="3" name="Text 1"/>
          <p:cNvSpPr/>
          <p:nvPr/>
        </p:nvSpPr>
        <p:spPr>
          <a:xfrm>
            <a:off x="320040" y="0"/>
            <a:ext cx="8503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B4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CONCLUSIONS &amp; FUTURE SCOPE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686800" y="0"/>
            <a:ext cx="457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A0B5"/>
                </a:solidFill>
              </a:rPr>
              <a:t>07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320040" y="1005840"/>
            <a:ext cx="40233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B4D8"/>
                </a:solidFill>
              </a:rPr>
              <a:t>WHAT WE ACHIEVED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47472" y="1435608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8988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Complex financial analytics without framework overhead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47472" y="1911096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18653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Generators + NumPy = memory-safe, high-speed processing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47472" y="2386584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34086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Custom HTTP server bridges Python backend to modern web UI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" y="2862072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2816352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All 4 project objectives fully met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47472" y="3337560"/>
            <a:ext cx="182880" cy="182880"/>
          </a:xfrm>
          <a:prstGeom prst="ellipse">
            <a:avLst/>
          </a:prstGeom>
          <a:solidFill>
            <a:srgbClr val="00B4D8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3291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Error handling validated through malformed-data test cases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0" y="960120"/>
            <a:ext cx="4251960" cy="1691640"/>
          </a:xfrm>
          <a:prstGeom prst="rect">
            <a:avLst/>
          </a:prstGeom>
          <a:solidFill>
            <a:srgbClr val="122849"/>
          </a:solidFill>
          <a:ln w="19050">
            <a:solidFill>
              <a:srgbClr val="FF6B3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9601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6B35"/>
                </a:solidFill>
              </a:rPr>
              <a:t>LIMITATIONS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1417320"/>
            <a:ext cx="39776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</a:rPr>
              <a:t>Storage: </a:t>
            </a:r>
            <a:pPr indent="0" marL="0">
              <a:buNone/>
            </a:pPr>
            <a:r>
              <a:rPr lang="en-US" sz="1050" dirty="0">
                <a:solidFill>
                  <a:srgbClr val="D6E4EE"/>
                </a:solidFill>
              </a:rPr>
              <a:t>Plain text file — not scalable; no concurrency controls</a:t>
            </a:r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</a:rPr>
              <a:t>
</a:t>
            </a:r>
            <a:pPr indent="0" marL="0">
              <a:buNone/>
            </a:pPr>
            <a:r>
              <a:rPr lang="en-US" sz="1050" b="1" dirty="0">
                <a:solidFill>
                  <a:srgbClr val="FF6B35"/>
                </a:solidFill>
              </a:rPr>
              <a:t>Forecasting: </a:t>
            </a:r>
            <a:pPr indent="0" marL="0">
              <a:buNone/>
            </a:pPr>
            <a:r>
              <a:rPr lang="en-US" sz="1050" dirty="0">
                <a:solidFill>
                  <a:srgbClr val="D6E4EE"/>
                </a:solidFill>
              </a:rPr>
              <a:t>Simple linear projection (monthly × 12) ignores seasonality &amp; inflation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0" y="2788920"/>
            <a:ext cx="4251960" cy="2011680"/>
          </a:xfrm>
          <a:prstGeom prst="rect">
            <a:avLst/>
          </a:prstGeom>
          <a:solidFill>
            <a:srgbClr val="122849"/>
          </a:solidFill>
          <a:ln w="19050">
            <a:solidFill>
              <a:srgbClr val="2DC65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0" y="2788920"/>
            <a:ext cx="4251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2DC653"/>
                </a:solidFill>
              </a:rPr>
              <a:t>FUTURE SCOPE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36592" y="3264408"/>
            <a:ext cx="201168" cy="20116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2" name="Text 20"/>
          <p:cNvSpPr/>
          <p:nvPr/>
        </p:nvSpPr>
        <p:spPr>
          <a:xfrm>
            <a:off x="5029200" y="3218688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Migrate to SQLite / PostgreSQL for multi-user support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36592" y="3648456"/>
            <a:ext cx="201168" cy="20116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4" name="Text 22"/>
          <p:cNvSpPr/>
          <p:nvPr/>
        </p:nvSpPr>
        <p:spPr>
          <a:xfrm>
            <a:off x="5029200" y="3602736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Machine-learning forecasting using ARIMA time-series models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36592" y="4032504"/>
            <a:ext cx="201168" cy="20116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6" name="Text 24"/>
          <p:cNvSpPr/>
          <p:nvPr/>
        </p:nvSpPr>
        <p:spPr>
          <a:xfrm>
            <a:off x="5029200" y="3986784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Secure login &amp; OAuth for personalised dashboards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36592" y="4416552"/>
            <a:ext cx="201168" cy="201168"/>
          </a:xfrm>
          <a:prstGeom prst="rect">
            <a:avLst/>
          </a:prstGeom>
          <a:solidFill>
            <a:srgbClr val="2DC653"/>
          </a:solidFill>
          <a:ln/>
        </p:spPr>
      </p:sp>
      <p:sp>
        <p:nvSpPr>
          <p:cNvPr id="28" name="Text 26"/>
          <p:cNvSpPr/>
          <p:nvPr/>
        </p:nvSpPr>
        <p:spPr>
          <a:xfrm>
            <a:off x="5029200" y="4370832"/>
            <a:ext cx="365760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</a:rPr>
              <a:t>Mobile-responsive PWA deployment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B1F3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4114800" cy="4114800"/>
          </a:xfrm>
          <a:prstGeom prst="ellipse">
            <a:avLst/>
          </a:prstGeom>
          <a:solidFill>
            <a:srgbClr val="00B4D8">
              <a:alpha val="12000"/>
            </a:srgbClr>
          </a:solidFill>
          <a:ln w="12700">
            <a:solidFill>
              <a:srgbClr val="00B4D8">
                <a:alpha val="2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858000" y="2743200"/>
            <a:ext cx="3200400" cy="3200400"/>
          </a:xfrm>
          <a:prstGeom prst="ellipse">
            <a:avLst/>
          </a:prstGeom>
          <a:solidFill>
            <a:srgbClr val="0096B7">
              <a:alpha val="12000"/>
            </a:srgbClr>
          </a:solidFill>
          <a:ln w="12700">
            <a:solidFill>
              <a:srgbClr val="0096B7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280160"/>
            <a:ext cx="7315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914400" y="2331720"/>
            <a:ext cx="7315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90E0EF"/>
                </a:solidFill>
              </a:rPr>
              <a:t>Personal Expense Forecaster — VNR VJIET, Hyderabad · May 2026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286000" y="2907792"/>
            <a:ext cx="4572000" cy="0"/>
          </a:xfrm>
          <a:prstGeom prst="line">
            <a:avLst/>
          </a:prstGeom>
          <a:noFill/>
          <a:ln w="12700">
            <a:solidFill>
              <a:srgbClr val="00B4D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3090672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B4D8"/>
                </a:solidFill>
              </a:rPr>
              <a:t>C. RITHVIK  </a:t>
            </a:r>
            <a:pPr algn="ctr" indent="0" marL="0">
              <a:buNone/>
            </a:pPr>
            <a:r>
              <a:rPr lang="en-US" sz="1200" dirty="0">
                <a:solidFill>
                  <a:srgbClr val="8BA0B5"/>
                </a:solidFill>
              </a:rPr>
              <a:t>  25071A6283  |  </a:t>
            </a:r>
            <a:pPr algn="ctr" indent="0" marL="0">
              <a:buNone/>
            </a:pPr>
            <a:r>
              <a:rPr lang="en-US" sz="1200" dirty="0">
                <a:solidFill>
                  <a:srgbClr val="8BA0B5"/>
                </a:solidFill>
              </a:rPr>
              <a:t>  Guide: Ms Dhanshree Mukund Pande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14400" y="3520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BA0B5"/>
                </a:solidFill>
              </a:rPr>
              <a:t>Dept. of CSE – Cyber Security &amp; DS | VNRVJIET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434840" y="4114800"/>
            <a:ext cx="274320" cy="731520"/>
          </a:xfrm>
          <a:prstGeom prst="rect">
            <a:avLst/>
          </a:prstGeom>
          <a:solidFill>
            <a:srgbClr val="00B4D8"/>
          </a:solidFill>
          <a:ln/>
        </p:spPr>
      </p:sp>
      <p:sp>
        <p:nvSpPr>
          <p:cNvPr id="10" name="Shape 8"/>
          <p:cNvSpPr/>
          <p:nvPr/>
        </p:nvSpPr>
        <p:spPr>
          <a:xfrm>
            <a:off x="4434840" y="4114800"/>
            <a:ext cx="274320" cy="731520"/>
          </a:xfrm>
          <a:prstGeom prst="rect">
            <a:avLst/>
          </a:prstGeom>
          <a:solidFill>
            <a:srgbClr val="00B4D8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Expense Forecaster</dc:title>
  <dc:subject>PptxGenJS Presentation</dc:subject>
  <dc:creator>C. Rithvik</dc:creator>
  <cp:lastModifiedBy>C. Rithvik</cp:lastModifiedBy>
  <cp:revision>1</cp:revision>
  <dcterms:created xsi:type="dcterms:W3CDTF">2026-05-02T08:23:53Z</dcterms:created>
  <dcterms:modified xsi:type="dcterms:W3CDTF">2026-05-02T08:23:53Z</dcterms:modified>
</cp:coreProperties>
</file>